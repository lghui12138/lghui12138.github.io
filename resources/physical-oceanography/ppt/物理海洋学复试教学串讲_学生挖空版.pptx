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 w="12700">
            <a:solidFill>
              <a:srgbClr val="F4FA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4672" y="1719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学生挖空版｜逐步揭晓（翻页即动画）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18120" y="1170432"/>
            <a:ext cx="3566160" cy="205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2712" y="1261872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91856" y="1554480"/>
            <a:ext cx="32004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先让学生独立回答</a:t>
            </a:r>
            <a:endParaRPr lang="en-US" sz="1400" dirty="0"/>
          </a:p>
          <a:p>
            <a:pPr marL="1905" indent="-1905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再按空格或翻页逐步揭晓关键词</a:t>
            </a:r>
            <a:endParaRPr lang="en-US" sz="1400" dirty="0"/>
          </a:p>
          <a:p>
            <a:pPr marL="1905" indent="-1905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最后切到答案版做讲评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" y="2798064"/>
            <a:ext cx="10625328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2889504"/>
            <a:ext cx="10296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这版的变化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78992" y="349300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不再是“静态留空”。现在每个模块都做成分步揭晓：先空白、再半揭晓、再完整答案，课堂放映时效果就是填空动画。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1｜导论：先搭学科骨架，再进入知识细节｜学生互动挖空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物理海洋学的三大核心对象可概括为结构、______与机制。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入门分析的三条主线是质量守恒、动量守恒和______守恒。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海洋是旋转、分层且有______约束的流体系统。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尺度分析里表征旋转效应重要性的无量纲数是______数。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观测给出现象事实，理论给出______。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复试高分答法通常遵循“定义—主导力—典型现象—______”。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0/6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1｜导论：先搭学科骨架，再进入知识细节｜学生互动挖空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物理海洋学的三大核心对象可概括为结构、运动与机制。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入门分析的三条主线是质量守恒、动量守恒和热盐 / 标量守恒。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海洋是旋转、分层且有边界约束的流体系统。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尺度分析里表征旋转效应重要性的无量纲数是______数。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观测给出现象事实，理论给出______。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复试高分答法通常遵循“定义—主导力—典型现象—______”。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4C95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3/6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1｜导论：先搭学科骨架，再进入知识细节｜学生互动挖空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物理海洋学的三大核心对象可概括为结构、运动与机制。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入门分析的三条主线是质量守恒、动量守恒和热盐 / 标量守恒。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海洋是旋转、分层且有边界约束的流体系统。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尺度分析里表征旋转效应重要性的无量纲数是Rossby数。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观测给出现象事实，理论给出机制解释。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复试高分答法通常遵循“定义—主导力—典型现象—意义 / 应用”。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6/6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2｜外部强迫：海洋首先如何接收能量、动量与物质｜学生互动挖空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海气界面的三类核心交换是热量、动量和______交换。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概括海表热收支的净热通量通常记为______。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风把动量输入海洋的入口叫海面______。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风应力空间分布不均常通过风应力______影响辐聚与辐散。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蒸发增强会使表层盐度升高、密度趋于______。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海洋高热容量使其成为气候系统中的热量______。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0/6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2｜外部强迫：海洋首先如何接收能量、动量与物质｜学生互动挖空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海气界面的三类核心交换是热量、动量和淡水 / 物质交换。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概括海表热收支的净热通量通常记为Qnet。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风把动量输入海洋的入口叫海面风应力。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风应力空间分布不均常通过风应力______影响辐聚与辐散。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蒸发增强会使表层盐度升高、密度趋于______。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海洋高热容量使其成为气候系统中的热量______。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4C95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3/6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2｜外部强迫：海洋首先如何接收能量、动量与物质｜学生互动挖空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海气界面的三类核心交换是热量、动量和淡水 / 物质交换。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概括海表热收支的净热通量通常记为Qnet。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风把动量输入海洋的入口叫海面风应力。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风应力空间分布不均常通过风应力旋度影响辐聚与辐散。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蒸发增强会使表层盐度升高、密度趋于增大。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海洋高热容量使其成为气候系统中的热量储库 / 记忆体。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6/6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3｜海水物性与层化：所有动力过程最终都要回到密度｜学生互动挖空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海洋三个基础状态量是温度、盐度和______。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海水状态方程可写成 ρ = f(T,S,______)。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上轻下重对应静力______层结。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表征层结稳定度的经典量是浮力频率______。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为了比较不同深度海水密度，常引入______密度概念。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层化越强，垂向交换通常越______。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0/6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3｜海水物性与层化：所有动力过程最终都要回到密度｜学生互动挖空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海洋三个基础状态量是温度、盐度和密度。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海水状态方程可写成 ρ = f(T,S,p / 压强)。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上轻下重对应静力稳定层结。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表征层结稳定度的经典量是浮力频率______。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为了比较不同深度海水密度，常引入______密度概念。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层化越强，垂向交换通常越______。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4C95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3/6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3｜海水物性与层化：所有动力过程最终都要回到密度｜学生互动挖空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海洋三个基础状态量是温度、盐度和密度。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海水状态方程可写成 ρ = f(T,S,p / 压强)。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上轻下重对应静力稳定层结。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表征层结稳定度的经典量是浮力频率N² / N。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为了比较不同深度海水密度，常引入位势密度概念。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层化越强，垂向交换通常越困难 / 弱。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6/6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4｜水团与锋：海洋不是均匀一锅水，而是带“身份”和“边界”的结构体｜学生互动挖空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水团可理解为具有相对稳定______特征的海水体。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识别水团和混合线的经典图解工具是______图。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锋强调______梯度强，跃层强调垂向梯度强。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障碍层常由______层结造成。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水团反映的是海水形成历史和后续______过程。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沿等密度面输运相对容易，跨等密度面交换更能改造______。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0/6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4｜水团与锋：海洋不是均匀一锅水，而是带“身份”和“边界”的结构体｜学生互动挖空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水团可理解为具有相对稳定温盐 / T-S特征的海水体。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识别水团和混合线的经典图解工具是T-S图。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锋强调水平梯度强，跃层强调垂向梯度强。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障碍层常由______层结造成。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水团反映的是海水形成历史和后续______过程。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沿等密度面输运相对容易，跨等密度面交换更能改造______。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4C95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3/6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4｜水团与锋：海洋不是均匀一锅水，而是带“身份”和“边界”的结构体｜学生互动挖空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水团可理解为具有相对稳定温盐 / T-S特征的海水体。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识别水团和混合线的经典图解工具是T-S图。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锋强调水平梯度强，跃层强调垂向梯度强。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障碍层常由盐度层结造成。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水团反映的是海水形成历史和后续混合改造过程。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沿等密度面输运相对容易，跨等密度面交换更能改造层化 / 水团结构。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6/6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5｜湍流、混合与扩散：海洋结构如何被持续改造｜学生互动挖空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湍流最重要的直接作用是增强动量、热量和______交换。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风浪、底摩擦、流速切变和______不稳定都能触发湍流。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真正重塑层化结构的往往是跨______面混合。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模式中常用涡黏性和涡扩散系数对湍流进行______。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 Richardson 数过小时，______不稳定更易发生。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双扩散的根源是温度和盐度______率不同。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0/6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5｜湍流、混合与扩散：海洋结构如何被持续改造｜学生互动挖空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湍流最重要的直接作用是增强动量、热量和物质交换。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风浪、底摩擦、流速切变和对流不稳定都能触发湍流。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真正重塑层化结构的往往是跨等密度面混合。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模式中常用涡黏性和涡扩散系数对湍流进行______。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 Richardson 数过小时，______不稳定更易发生。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双扩散的根源是温度和盐度______率不同。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4C95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3/6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5｜湍流、混合与扩散：海洋结构如何被持续改造｜学生互动挖空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湍流最重要的直接作用是增强动量、热量和物质交换。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风浪、底摩擦、流速切变和对流不稳定都能触发湍流。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真正重塑层化结构的往往是跨等密度面混合。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模式中常用涡黏性和涡扩散系数对湍流进行参数化。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 Richardson 数过小时，剪切 / Kelvin-Helmholtz不稳定更易发生。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双扩散的根源是温度和盐度扩散率不同。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6/6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6｜基本流动：先判主导力，再判平衡关系｜学生互动挖空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艾克曼流最直接的驱动是海面______。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地转流的经典平衡是压强梯度力与______力平衡。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M_E ≈ τ/(ρf) 描述的是艾克曼______。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垂向流速切变与水平密度梯度联系起来的关系叫______关系。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表层辐散后的补偿上涌形成______流。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高密度水沿坡地下沉形成典型的______流。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0/6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6｜基本流动：先判主导力，再判平衡关系｜学生互动挖空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艾克曼流最直接的驱动是海面风应力。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地转流的经典平衡是压强梯度力与科氏力平衡。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M_E ≈ τ/(ρf) 描述的是艾克曼输运。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垂向流速切变与水平密度梯度联系起来的关系叫______关系。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表层辐散后的补偿上涌形成______流。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高密度水沿坡地下沉形成典型的______流。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4C95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3/6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6｜基本流动：先判主导力，再判平衡关系｜学生互动挖空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艾克曼流最直接的驱动是海面风应力。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地转流的经典平衡是压强梯度力与科氏力平衡。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M_E ≈ τ/(ρf) 描述的是艾克曼输运。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垂向流速切变与水平密度梯度联系起来的关系叫热成风关系。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表层辐散后的补偿上涌形成上升流。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高密度水沿坡地下沉形成典型的重力流。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6/6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7｜环流与输运：海洋如何在盆地尺度重新分配热盐与物质｜学生互动挖空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热盐环流的直接动力基础是海水______差。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北大西洋深水形成对应 AMOC 的关键深层______来源。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海峡交换、地形、河流和______共同塑造边缘海环流。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Sverdrup 平衡把大尺度风生环流与风应力______联系起来。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中尺度涡的重要作用之一是高效搬运热盐和各种______物。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AMOC 影响气候的核心之一是改变经向______输送。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0/6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7｜环流与输运：海洋如何在盆地尺度重新分配热盐与物质｜学生互动挖空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热盐环流的直接动力基础是海水密度差。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北大西洋深水形成对应 AMOC 的关键深层南向 / 深水来源。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海峡交换、地形、河流和风场 / 季风共同塑造边缘海环流。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Sverdrup 平衡把大尺度风生环流与风应力______联系起来。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中尺度涡的重要作用之一是高效搬运热盐和各种______物。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AMOC 影响气候的核心之一是改变经向______输送。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4C95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3/6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7｜环流与输运：海洋如何在盆地尺度重新分配热盐与物质｜学生互动挖空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热盐环流的直接动力基础是海水密度差。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北大西洋深水形成对应 AMOC 的关键深层南向 / 深水来源。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海峡交换、地形、河流和风场 / 季风共同塑造边缘海环流。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Sverdrup 平衡把大尺度风生环流与风应力旋度联系起来。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中尺度涡的重要作用之一是高效搬运热盐和各种示踪 / 营养物。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AMOC 影响气候的核心之一是改变经向热量输送。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6/6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8｜波动与周期运动：平均态之外，海洋还会传播信息、输送能量｜学生互动挖空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贴着边界或赤道传播的经典长波是______波。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盆地尺度调整中传播较慢但很关键的是______波。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内波得以存在的前提是海洋内部存在明显______。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浅水长波相速近似可写成 c ≈ √(g______)。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潮汐的天文根源是______力。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余流强调周期平均后仍存在______输运。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0/6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8｜波动与周期运动：平均态之外，海洋还会传播信息、输送能量｜学生互动挖空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贴着边界或赤道传播的经典长波是Kelvin / 开尔文波。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盆地尺度调整中传播较慢但很关键的是Rossby / 罗斯贝波。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内波得以存在的前提是海洋内部存在明显层化 / 密度跃层。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浅水长波相速近似可写成 c ≈ √(g______)。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潮汐的天文根源是______力。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余流强调周期平均后仍存在______输运。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4C95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3/6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8｜波动与周期运动：平均态之外，海洋还会传播信息、输送能量｜学生互动挖空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贴着边界或赤道传播的经典长波是Kelvin / 开尔文波。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盆地尺度调整中传播较慢但很关键的是Rossby / 罗斯贝波。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内波得以存在的前提是海洋内部存在明显层化 / 密度跃层。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浅水长波相速近似可写成 c ≈ √(gH)。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潮汐的天文根源是引潮力。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余流强调周期平均后仍存在净输运。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6/6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9｜振荡、不稳定与对流：海洋为什么会自己“变起来”｜学生互动挖空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ENSO 的本质是热带太平洋海气______振荡。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振荡之所以存在，除了正反馈，还需要恢复机制和传播______。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上重下轻对应典型的______不稳定。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由平均流速度切变向扰动释放动能的是______不稳定。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由水平密度梯度位能释放生成扰动的是______不稳定。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表层冷却增密后下沉，属于典型的______对流。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0/6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9｜振荡、不稳定与对流：海洋为什么会自己“变起来”｜学生互动挖空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ENSO 的本质是热带太平洋海气耦合振荡。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振荡之所以存在，除了正反馈，还需要恢复机制和传播时滞。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上重下轻对应典型的静力不稳定。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由平均流速度切变向扰动释放动能的是______不稳定。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由水平密度梯度位能释放生成扰动的是______不稳定。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表层冷却增密后下沉，属于典型的______对流。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4C95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3/6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9｜振荡、不稳定与对流：海洋为什么会自己“变起来”｜学生互动挖空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ENSO 的本质是热带太平洋海气耦合振荡。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振荡之所以存在，除了正反馈，还需要恢复机制和传播时滞。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上重下轻对应典型的静力不稳定。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由平均流速度切变向扰动释放动能的是正压不稳定。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由水平密度梯度位能释放生成扰动的是斜压不稳定。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表层冷却增密后下沉，属于典型的浮力对流。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6/6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10｜海平面与海冰：把前面的动力、热盐和气候过程投影到可观测结果上｜学生互动挖空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平均海平面变化要区分质量增加、热膨胀、动力调整和______运动。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解释体积海平面变化常用的术语是______ sea level。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沿海风险分析中必须区分全球平均海平面与区域______海平面。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海冰高反照率意味着它与气候系统之间存在显著的______反馈。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海冰生长时排盐会使下层海水密度趋于______。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海平面和海冰都可视为海洋—气候系统的______变量。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步｜先独立作答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0/6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10｜海平面与海冰：把前面的动力、热盐和气候过程投影到可观测结果上｜学生互动挖空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平均海平面变化要区分质量增加、热膨胀、动力调整和陆地 / 地壳运动。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解释体积海平面变化常用的术语是steric sea level。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沿海风险分析中必须区分全球平均海平面与区域相对海平面。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海冰高反照率意味着它与气候系统之间存在显著的______反馈。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海冰生长时排盐会使下层海水密度趋于______。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海平面和海冰都可视为海洋—气候系统的______变量。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4C95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步｜揭晓前半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3/6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10｜海平面与海冰：把前面的动力、热盐和气候过程投影到可观测结果上｜学生互动挖空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步｜完整答案｜放映时连续翻页即可形成“填空动画”效果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请先自己补全前 3 个关键点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再补全后 3 个关键点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20240"/>
            <a:ext cx="49834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平均海平面变化要区分质量增加、热膨胀、动力调整和陆地 / 地壳运动。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解释体积海平面变化常用的术语是steric sea level。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沿海风险分析中必须区分全球平均海平面与区域相对海平面。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6455664" y="1920240"/>
            <a:ext cx="475488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海冰高反照率意味着它与气候系统之间存在显著的冰—反照率 / 正反馈。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海冰生长时排盐会使下层海水密度趋于增大。</a:t>
            </a:r>
            <a:endParaRPr lang="en-US" sz="1560" dirty="0"/>
          </a:p>
          <a:p>
            <a:pPr marL="1905" indent="-1905">
              <a:buSzPct val="100000"/>
              <a:buChar char="•"/>
            </a:pPr>
            <a:r>
              <a:rPr lang="en-US" sz="156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海平面和海冰都可视为海洋—气候系统的结果变量。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5715000"/>
            <a:ext cx="1965960" cy="329184"/>
          </a:xfrm>
          <a:prstGeom prst="roundRect">
            <a:avLst/>
          </a:prstGeom>
          <a:solidFill>
            <a:srgbClr val="F9FBFD"/>
          </a:solidFill>
          <a:ln w="1397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064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步｜完整答案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24128" y="5806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当前已揭晓 6/6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58064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红字为本轮刚刚揭晓/已揭晓的关键词。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物理海洋学复试教学串讲｜学生挖空版（逐步揭晓）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高频口试题抢答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建议先口头组织答案，再切回教师版看标准讲法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09344"/>
            <a:ext cx="10771632" cy="4480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00784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个高频问题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32688" y="1938528"/>
            <a:ext cx="103327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为什么说物理海洋学是“旋转、分层、有边界”的流体问题？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海洋表层受到风强迫后，为什么不是简单顺风流动？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为什么层化强会抑制垂向交换，却又有利于内波存在？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热盐环流为什么会影响海平面和气候？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为什么说 ENSO 不是单纯海温异常，而是海气耦合振荡？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海平面变化为什么不能只用“冰化了”一句话解释？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物理海洋学复试教学串讲_学生挖空版</dc:title>
  <dc:subject>PptxGenJS Presentation</dc:subject>
  <dc:creator>OpenClaw</dc:creator>
  <cp:lastModifiedBy>OpenClaw</cp:lastModifiedBy>
  <cp:revision>1</cp:revision>
  <dcterms:created xsi:type="dcterms:W3CDTF">2026-03-14T16:21:44Z</dcterms:created>
  <dcterms:modified xsi:type="dcterms:W3CDTF">2026-03-14T16:21:44Z</dcterms:modified>
</cp:coreProperties>
</file>