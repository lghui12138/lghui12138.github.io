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notesMasterIdLst>
    <p:notesMasterId r:id="rId8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 w="12700">
            <a:solidFill>
              <a:srgbClr val="F4FA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07899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04672" y="17556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学生挖空｜逐步补空动画版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18120" y="1188720"/>
            <a:ext cx="3611880" cy="2057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82712" y="1280160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课堂怎么用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73568" y="1572768"/>
            <a:ext cx="324612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" indent="-2032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先停在挖空页提问</a:t>
            </a:r>
            <a:endParaRPr lang="en-US" sz="1400" dirty="0"/>
          </a:p>
          <a:p>
            <a:pPr marL="2032" indent="-2032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每按一下翻页，只补 1 个空</a:t>
            </a:r>
            <a:endParaRPr lang="en-US" sz="1400" dirty="0"/>
          </a:p>
          <a:p>
            <a:pPr marL="2032" indent="-2032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整页补完后再进入下一模块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" y="2788920"/>
            <a:ext cx="1060704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80360"/>
            <a:ext cx="10277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051560" y="3456432"/>
            <a:ext cx="1010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这一版不是“一页全显答案”，而是把每个模块拆成逐步补空序列；投屏时连续翻页，效果就像逐个动画填空。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52578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主线：外部强迫 → 海水物性与层化 → 水团与锋 → 混合扩散 → 基本流动 → 环流输运 → 波动振荡 → 气候响应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1｜导论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先立框架，不要一上来就背细节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物理海洋学研究海洋中的结构、______、机制。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导论四个研究环节：现象、概念、______、应用。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理解海洋时要考虑尺度差异、地球______、海水______和边界约束。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海洋与大气相比，海洋更受______边界约束。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海洋观测的核心作用：先获得______，再建立理论。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尺度不同，主导______就不同。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0/6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先提问，再开始逐步补空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1｜导论｜逐步补空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物理海洋学研究海洋中的结构、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【运动】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、机制。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导论四个研究环节：现象、概念、______、应用。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理解海洋时要考虑尺度差异、地球______、海水______和边界约束。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海洋与大气相比，海洋更受______边界约束。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海洋观测的核心作用：先获得______，再建立理论。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尺度不同，主导______就不同。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1/6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1｜导论｜逐步补空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物理海洋学研究海洋中的结构、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【运动】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、机制。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导论四个研究环节：现象、概念、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【理论】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、应用。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理解海洋时要考虑尺度差异、地球______、海水______和边界约束。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海洋与大气相比，海洋更受______边界约束。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海洋观测的核心作用：先获得______，再建立理论。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尺度不同，主导______就不同。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2/6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1｜导论｜逐步补空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物理海洋学研究海洋中的结构、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【运动】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、机制。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导论四个研究环节：现象、概念、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【理论】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、应用。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理解海洋时要考虑尺度差异、地球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【自转】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【分层】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和边界约束。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海洋与大气相比，海洋更受______边界约束。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海洋观测的核心作用：先获得______，再建立理论。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尺度不同，主导______就不同。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3/6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1｜导论｜逐步补空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物理海洋学研究海洋中的结构、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【运动】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、机制。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导论四个研究环节：现象、概念、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【理论】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、应用。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理解海洋时要考虑尺度差异、地球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【自转】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【分层】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和边界约束。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海洋与大气相比，海洋更受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【侧 / 海岸与海盆】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边界约束。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海洋观测的核心作用：先获得______，再建立理论。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尺度不同，主导______就不同。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4/6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1｜导论｜逐步补空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物理海洋学研究海洋中的结构、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【运动】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、机制。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导论四个研究环节：现象、概念、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【理论】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、应用。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理解海洋时要考虑尺度差异、地球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【自转】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【分层】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和边界约束。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海洋与大气相比，海洋更受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【侧 / 海岸与海盆】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边界约束。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海洋观测的核心作用：先获得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【现象 / 事实资料】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，再建立理论。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尺度不同，主导______就不同。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5/6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1｜导论｜逐步补空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物理海洋学研究海洋中的结构、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【运动】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、机制。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导论四个研究环节：现象、概念、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【理论】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、应用。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理解海洋时要考虑尺度差异、地球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【自转】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【分层】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和边界约束。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海洋与大气相比，海洋更受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【侧 / 海岸与海盆】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边界约束。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海洋观测的核心作用：先获得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【现象 / 事实资料】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，再建立理论。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尺度不同，主导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【机制 / 力学平衡】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就不同。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6/6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2｜外部强迫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海洋先被什么驱动？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海气界面的三类交换：热量、动量、______。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海面风场把动量输入海洋的入口叫海面______。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表层辐散常导致______流。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海气作用不是单向的，海洋也会反过来影响______。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海洋高热容量意味着它是气候系统中的热量______。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风场不仅驱动流，还会改变混合和______深度。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0/6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先提问，再开始逐步补空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2｜外部强迫｜逐步补空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海气界面的三类交换：热量、动量、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【物质】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海面风场把动量输入海洋的入口叫海面______。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表层辐散常导致______流。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海气作用不是单向的，海洋也会反过来影响______。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海洋高热容量意味着它是气候系统中的热量______。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风场不仅驱动流，还会改变混合和______深度。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1/6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2｜外部强迫｜逐步补空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海气界面的三类交换：热量、动量、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【物质】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海面风场把动量输入海洋的入口叫海面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【风应力】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表层辐散常导致______流。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海气作用不是单向的，海洋也会反过来影响______。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海洋高热容量意味着它是气候系统中的热量______。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风场不仅驱动流，还会改变混合和______深度。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2/6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2｜外部强迫｜逐步补空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海气界面的三类交换：热量、动量、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【物质】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海面风场把动量输入海洋的入口叫海面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【风应力】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表层辐散常导致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【上升】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海气作用不是单向的，海洋也会反过来影响______。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海洋高热容量意味着它是气候系统中的热量______。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风场不仅驱动流，还会改变混合和______深度。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3/6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2｜外部强迫｜逐步补空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海气界面的三类交换：热量、动量、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【物质】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海面风场把动量输入海洋的入口叫海面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【风应力】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表层辐散常导致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【上升】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海气作用不是单向的，海洋也会反过来影响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【大气】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海洋高热容量意味着它是气候系统中的热量______。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风场不仅驱动流，还会改变混合和______深度。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4/6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2｜外部强迫｜逐步补空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海气界面的三类交换：热量、动量、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【物质】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海面风场把动量输入海洋的入口叫海面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【风应力】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表层辐散常导致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【上升】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海气作用不是单向的，海洋也会反过来影响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【大气】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海洋高热容量意味着它是气候系统中的热量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【储库 / 记忆库】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风场不仅驱动流，还会改变混合和______深度。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5/6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2｜外部强迫｜逐步补空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海气界面的三类交换：热量、动量、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【物质】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海面风场把动量输入海洋的入口叫海面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【风应力】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表层辐散常导致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【上升】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海气作用不是单向的，海洋也会反过来影响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【大气】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海洋高热容量意味着它是气候系统中的热量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【储库 / 记忆库】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风场不仅驱动流，还会改变混合和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【热跃层 / 混合层】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6/6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3｜海水物性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T、S、ρ 是后面所有章节的根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海洋核心三个状态量：温度、盐度、______。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海水密度可写成 ρ = f(T,S,______)。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上轻下重属于静力______。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冷、咸、深的海水通常更______。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密度梯度越强，层化越______。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很多物质更容易沿______面输运。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0/6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先提问，再开始逐步补空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3｜海水物性｜逐步补空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海洋核心三个状态量：温度、盐度、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海水密度可写成 ρ = f(T,S,______)。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上轻下重属于静力______。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冷、咸、深的海水通常更______。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密度梯度越强，层化越______。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很多物质更容易沿______面输运。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1/6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3｜海水物性｜逐步补空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海洋核心三个状态量：温度、盐度、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海水密度可写成 ρ = f(T,S,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【p / 压强】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上轻下重属于静力______。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冷、咸、深的海水通常更______。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密度梯度越强，层化越______。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很多物质更容易沿______面输运。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2/6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3｜海水物性｜逐步补空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海洋核心三个状态量：温度、盐度、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海水密度可写成 ρ = f(T,S,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【p / 压强】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上轻下重属于静力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【稳定】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冷、咸、深的海水通常更______。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密度梯度越强，层化越______。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很多物质更容易沿______面输运。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3/6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3｜海水物性｜逐步补空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海洋核心三个状态量：温度、盐度、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海水密度可写成 ρ = f(T,S,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【p / 压强】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上轻下重属于静力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【稳定】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冷、咸、深的海水通常更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密度梯度越强，层化越______。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很多物质更容易沿______面输运。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4/6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3｜海水物性｜逐步补空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海洋核心三个状态量：温度、盐度、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海水密度可写成 ρ = f(T,S,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【p / 压强】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上轻下重属于静力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【稳定】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冷、咸、深的海水通常更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密度梯度越强，层化越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【明显 / 稳定】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很多物质更容易沿______面输运。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5/6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3｜海水物性｜逐步补空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海洋核心三个状态量：温度、盐度、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海水密度可写成 ρ = f(T,S,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【p / 压强】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上轻下重属于静力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【稳定】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冷、咸、深的海水通常更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密度梯度越强，层化越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【明显 / 稳定】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很多物质更容易沿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【等密度】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面输运。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6/6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4｜水团与锋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结构不是均匀的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水团可视作具有相对稳定______特征的海水体。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识别水团的经典图是______图。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锋是______梯度显著增强的过渡带。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跃层强调变量随______变化很快。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障碍层会抑制混合层与下方暖水的______。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水团像“身份证”，锋像“______线”。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0/6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先提问，再开始逐步补空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4｜水团与锋｜逐步补空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水团可视作具有相对稳定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【温盐 / T-S】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特征的海水体。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识别水团的经典图是______图。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锋是______梯度显著增强的过渡带。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跃层强调变量随______变化很快。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障碍层会抑制混合层与下方暖水的______。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水团像“身份证”，锋像“______线”。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1/6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4｜水团与锋｜逐步补空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水团可视作具有相对稳定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【温盐 / T-S】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特征的海水体。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识别水团的经典图是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【T-S】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锋是______梯度显著增强的过渡带。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跃层强调变量随______变化很快。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障碍层会抑制混合层与下方暖水的______。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水团像“身份证”，锋像“______线”。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2/6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4｜水团与锋｜逐步补空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水团可视作具有相对稳定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【温盐 / T-S】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特征的海水体。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识别水团的经典图是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【T-S】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锋是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【水平】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梯度显著增强的过渡带。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跃层强调变量随______变化很快。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障碍层会抑制混合层与下方暖水的______。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水团像“身份证”，锋像“______线”。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3/6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4｜水团与锋｜逐步补空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水团可视作具有相对稳定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【温盐 / T-S】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特征的海水体。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识别水团的经典图是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【T-S】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锋是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【水平】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梯度显著增强的过渡带。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跃层强调变量随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【深度 / 垂向】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变化很快。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障碍层会抑制混合层与下方暖水的______。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水团像“身份证”，锋像“______线”。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4/6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4｜水团与锋｜逐步补空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水团可视作具有相对稳定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【温盐 / T-S】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特征的海水体。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识别水团的经典图是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【T-S】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锋是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【水平】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梯度显著增强的过渡带。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跃层强调变量随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【深度 / 垂向】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变化很快。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障碍层会抑制混合层与下方暖水的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【交换 / 混合】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水团像“身份证”，锋像“______线”。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5/6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4｜水团与锋｜逐步补空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水团可视作具有相对稳定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【温盐 / T-S】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特征的海水体。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识别水团的经典图是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【T-S】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锋是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【水平】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梯度显著增强的过渡带。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跃层强调变量随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【深度 / 垂向】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变化很快。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障碍层会抑制混合层与下方暖水的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【交换 / 混合】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水团像“身份证”，锋像“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【分界】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线”。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6/6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5｜湍流、混合与扩散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静态结构会被不断改造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湍流最重要的作用是增强动量、热量和______交换。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常见混合：风生、潮流、______、内波破碎。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双扩散的根本原因是温度和盐度______率不同。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参数化的意义：用等效通量表示湍流的平均______。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沿等密度面混合更“顺着”______。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跨等密度面混合真正改变水团与______结构。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0/6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先提问，再开始逐步补空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5｜湍流、混合与扩散｜逐步补空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湍流最重要的作用是增强动量、热量和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【物质】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常见混合：风生、潮流、______、内波破碎。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双扩散的根本原因是温度和盐度______率不同。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参数化的意义：用等效通量表示湍流的平均______。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沿等密度面混合更“顺着”______。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跨等密度面混合真正改变水团与______结构。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1/6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5｜湍流、混合与扩散｜逐步补空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湍流最重要的作用是增强动量、热量和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【物质】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常见混合：风生、潮流、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【对流】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、内波破碎。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双扩散的根本原因是温度和盐度______率不同。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参数化的意义：用等效通量表示湍流的平均______。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沿等密度面混合更“顺着”______。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跨等密度面混合真正改变水团与______结构。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2/6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5｜湍流、混合与扩散｜逐步补空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湍流最重要的作用是增强动量、热量和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【物质】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常见混合：风生、潮流、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【对流】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、内波破碎。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双扩散的根本原因是温度和盐度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【扩散】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率不同。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参数化的意义：用等效通量表示湍流的平均______。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沿等密度面混合更“顺着”______。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跨等密度面混合真正改变水团与______结构。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3/6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5｜湍流、混合与扩散｜逐步补空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湍流最重要的作用是增强动量、热量和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【物质】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常见混合：风生、潮流、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【对流】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、内波破碎。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双扩散的根本原因是温度和盐度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【扩散】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率不同。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参数化的意义：用等效通量表示湍流的平均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【效应】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沿等密度面混合更“顺着”______。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跨等密度面混合真正改变水团与______结构。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4/6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5｜湍流、混合与扩散｜逐步补空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湍流最重要的作用是增强动量、热量和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【物质】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常见混合：风生、潮流、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【对流】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、内波破碎。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双扩散的根本原因是温度和盐度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【扩散】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率不同。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参数化的意义：用等效通量表示湍流的平均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【效应】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沿等密度面混合更“顺着”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【层化】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跨等密度面混合真正改变水团与______结构。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5/6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5｜湍流、混合与扩散｜逐步补空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湍流最重要的作用是增强动量、热量和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【物质】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常见混合：风生、潮流、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【对流】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、内波破碎。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双扩散的根本原因是温度和盐度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【扩散】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率不同。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参数化的意义：用等效通量表示湍流的平均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【效应】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沿等密度面混合更“顺着”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【层化】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跨等密度面混合真正改变水团与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【层化】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6/6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6｜基本流动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先判主导力，再判平衡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艾克曼流最直接的驱动是海面______。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地转流是压强梯度力与______力平衡。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高密度水沿坡地下沉形成______流。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沿岸风导致离岸输运时，常引起______流。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惯性流体现了“初始扰动后主要受______控制”。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风—输运—补偿，这条链最后往往落到______流。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0/6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先提问，再开始逐步补空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6｜基本流动｜逐步补空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艾克曼流最直接的驱动是海面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【风应力】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地转流是压强梯度力与______力平衡。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高密度水沿坡地下沉形成______流。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沿岸风导致离岸输运时，常引起______流。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惯性流体现了“初始扰动后主要受______控制”。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风—输运—补偿，这条链最后往往落到______流。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1/6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6｜基本流动｜逐步补空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艾克曼流最直接的驱动是海面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【风应力】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地转流是压强梯度力与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【科氏】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力平衡。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高密度水沿坡地下沉形成______流。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沿岸风导致离岸输运时，常引起______流。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惯性流体现了“初始扰动后主要受______控制”。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风—输运—补偿，这条链最后往往落到______流。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2/6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6｜基本流动｜逐步补空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艾克曼流最直接的驱动是海面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【风应力】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地转流是压强梯度力与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【科氏】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力平衡。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高密度水沿坡地下沉形成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【重力】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沿岸风导致离岸输运时，常引起______流。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惯性流体现了“初始扰动后主要受______控制”。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风—输运—补偿，这条链最后往往落到______流。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3/6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6｜基本流动｜逐步补空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艾克曼流最直接的驱动是海面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【风应力】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地转流是压强梯度力与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【科氏】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力平衡。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高密度水沿坡地下沉形成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【重力】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沿岸风导致离岸输运时，常引起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【上升】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惯性流体现了“初始扰动后主要受______控制”。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风—输运—补偿，这条链最后往往落到______流。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4/6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6｜基本流动｜逐步补空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艾克曼流最直接的驱动是海面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【风应力】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地转流是压强梯度力与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【科氏】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力平衡。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高密度水沿坡地下沉形成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【重力】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沿岸风导致离岸输运时，常引起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【上升】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惯性流体现了“初始扰动后主要受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【地球自转 / 科氏力】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控制”。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风—输运—补偿，这条链最后往往落到______流。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5/6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6｜基本流动｜逐步补空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艾克曼流最直接的驱动是海面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【风应力】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地转流是压强梯度力与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【科氏】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力平衡。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高密度水沿坡地下沉形成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【重力】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沿岸风导致离岸输运时，常引起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【上升】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惯性流体现了“初始扰动后主要受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【地球自转 / 科氏力】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控制”。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风—输运—补偿，这条链最后往往落到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【上升】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6/6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7｜环流与输运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海洋如何在盆地尺度运东西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热盐环流的直接驱动基础是海水______差。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AMOC 的关键词：北大西洋深水形成 + 经向翻转 + ______回流。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边缘海环流常受海峡交换、陆架地形、河流和______共同控制。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中尺度涡不只是绕圈，还能搬运热量、盐分和______。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卷挟输运说明不同性质水体会在______处发生交换。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热盐环流使海洋成为气候系统中的慢______。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0/6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先提问，再开始逐步补空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7｜环流与输运｜逐步补空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热盐环流的直接驱动基础是海水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AMOC 的关键词：北大西洋深水形成 + 经向翻转 + ______回流。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边缘海环流常受海峡交换、陆架地形、河流和______共同控制。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中尺度涡不只是绕圈，还能搬运热量、盐分和______。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卷挟输运说明不同性质水体会在______处发生交换。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热盐环流使海洋成为气候系统中的慢______。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1/6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7｜环流与输运｜逐步补空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热盐环流的直接驱动基础是海水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AMOC 的关键词：北大西洋深水形成 + 经向翻转 +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【表层 / 上层】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回流。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边缘海环流常受海峡交换、陆架地形、河流和______共同控制。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中尺度涡不只是绕圈，还能搬运热量、盐分和______。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卷挟输运说明不同性质水体会在______处发生交换。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热盐环流使海洋成为气候系统中的慢______。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2/6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7｜环流与输运｜逐步补空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热盐环流的直接驱动基础是海水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AMOC 的关键词：北大西洋深水形成 + 经向翻转 +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【表层 / 上层】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回流。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边缘海环流常受海峡交换、陆架地形、河流和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【风场 / 季风】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共同控制。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中尺度涡不只是绕圈，还能搬运热量、盐分和______。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卷挟输运说明不同性质水体会在______处发生交换。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热盐环流使海洋成为气候系统中的慢______。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3/6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7｜环流与输运｜逐步补空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热盐环流的直接驱动基础是海水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AMOC 的关键词：北大西洋深水形成 + 经向翻转 +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【表层 / 上层】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回流。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边缘海环流常受海峡交换、陆架地形、河流和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【风场 / 季风】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共同控制。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中尺度涡不只是绕圈，还能搬运热量、盐分和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【营养物质 / 物质】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卷挟输运说明不同性质水体会在______处发生交换。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热盐环流使海洋成为气候系统中的慢______。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4/6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7｜环流与输运｜逐步补空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热盐环流的直接驱动基础是海水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AMOC 的关键词：北大西洋深水形成 + 经向翻转 +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【表层 / 上层】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回流。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边缘海环流常受海峡交换、陆架地形、河流和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【风场 / 季风】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共同控制。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中尺度涡不只是绕圈，还能搬运热量、盐分和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【营养物质 / 物质】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卷挟输运说明不同性质水体会在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【界面】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处发生交换。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热盐环流使海洋成为气候系统中的慢______。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5/6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7｜环流与输运｜逐步补空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热盐环流的直接驱动基础是海水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AMOC 的关键词：北大西洋深水形成 + 经向翻转 +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【表层 / 上层】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回流。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边缘海环流常受海峡交换、陆架地形、河流和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【风场 / 季风】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共同控制。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中尺度涡不只是绕圈，还能搬运热量、盐分和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【营养物质 / 物质】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卷挟输运说明不同性质水体会在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【界面】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处发生交换。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热盐环流使海洋成为气候系统中的慢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【变量】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6/6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8｜波动与周期运动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平均态之外，海洋还会振、会传、会起伏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贴着边界或赤道传播的经典长波是______波。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Rossby 波传播相对更______。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内波存在的前提是海洋内部有明显______。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潮汐的天文根源是______力。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潮波进入浅海后会受地形、边界和______影响而变形。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余流强调“周期平均后仍留下______输运”。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0/6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先提问，再开始逐步补空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8｜波动与周期运动｜逐步补空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贴着边界或赤道传播的经典长波是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【Kelvin / 开尔文】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Rossby 波传播相对更______。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内波存在的前提是海洋内部有明显______。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潮汐的天文根源是______力。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潮波进入浅海后会受地形、边界和______影响而变形。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余流强调“周期平均后仍留下______输运”。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1/6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8｜波动与周期运动｜逐步补空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贴着边界或赤道传播的经典长波是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【Kelvin / 开尔文】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Rossby 波传播相对更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【慢】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内波存在的前提是海洋内部有明显______。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潮汐的天文根源是______力。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潮波进入浅海后会受地形、边界和______影响而变形。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余流强调“周期平均后仍留下______输运”。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2/6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8｜波动与周期运动｜逐步补空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贴着边界或赤道传播的经典长波是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【Kelvin / 开尔文】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Rossby 波传播相对更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【慢】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内波存在的前提是海洋内部有明显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【层化 / 密度跃层】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潮汐的天文根源是______力。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潮波进入浅海后会受地形、边界和______影响而变形。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余流强调“周期平均后仍留下______输运”。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3/6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8｜波动与周期运动｜逐步补空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贴着边界或赤道传播的经典长波是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【Kelvin / 开尔文】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Rossby 波传播相对更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【慢】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内波存在的前提是海洋内部有明显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【层化 / 密度跃层】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潮汐的天文根源是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【引潮】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潮波进入浅海后会受地形、边界和______影响而变形。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余流强调“周期平均后仍留下______输运”。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4/6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8｜波动与周期运动｜逐步补空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贴着边界或赤道传播的经典长波是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【Kelvin / 开尔文】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Rossby 波传播相对更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【慢】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内波存在的前提是海洋内部有明显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【层化 / 密度跃层】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潮汐的天文根源是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【引潮】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潮波进入浅海后会受地形、边界和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【共振】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影响而变形。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余流强调“周期平均后仍留下______输运”。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5/6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8｜波动与周期运动｜逐步补空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贴着边界或赤道传播的经典长波是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【Kelvin / 开尔文】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Rossby 波传播相对更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【慢】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内波存在的前提是海洋内部有明显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【层化 / 密度跃层】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潮汐的天文根源是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【引潮】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潮波进入浅海后会受地形、边界和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【共振】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影响而变形。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余流强调“周期平均后仍留下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【净】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输运”。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6/6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9｜振荡、不稳定与对流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海洋为什么会变起来？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ENSO 的本质是热带太平洋海气______振荡。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上重下轻对应______不稳定。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表层冷却增密后下沉，属于______对流。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正压不稳定常与速度______有关。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斜压不稳定释放的是水平密度梯度储存的______能。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潜沉是高密度水沿______面下潜。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0/6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先提问，再开始逐步补空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9｜振荡、不稳定与对流｜逐步补空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ENSO 的本质是热带太平洋海气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【耦合】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振荡。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上重下轻对应______不稳定。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表层冷却增密后下沉，属于______对流。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正压不稳定常与速度______有关。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斜压不稳定释放的是水平密度梯度储存的______能。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潜沉是高密度水沿______面下潜。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1/6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9｜振荡、不稳定与对流｜逐步补空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ENSO 的本质是热带太平洋海气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【耦合】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振荡。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上重下轻对应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【静力】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不稳定。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表层冷却增密后下沉，属于______对流。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正压不稳定常与速度______有关。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斜压不稳定释放的是水平密度梯度储存的______能。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潜沉是高密度水沿______面下潜。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2/6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9｜振荡、不稳定与对流｜逐步补空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ENSO 的本质是热带太平洋海气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【耦合】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振荡。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上重下轻对应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【静力】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不稳定。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表层冷却增密后下沉，属于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【浮力】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正压不稳定常与速度______有关。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斜压不稳定释放的是水平密度梯度储存的______能。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潜沉是高密度水沿______面下潜。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3/6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9｜振荡、不稳定与对流｜逐步补空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ENSO 的本质是热带太平洋海气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【耦合】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振荡。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上重下轻对应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【静力】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不稳定。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表层冷却增密后下沉，属于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【浮力】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正压不稳定常与速度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【切变】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有关。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斜压不稳定释放的是水平密度梯度储存的______能。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潜沉是高密度水沿______面下潜。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4/6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9｜振荡、不稳定与对流｜逐步补空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ENSO 的本质是热带太平洋海气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【耦合】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振荡。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上重下轻对应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【静力】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不稳定。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表层冷却增密后下沉，属于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【浮力】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正压不稳定常与速度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【切变】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有关。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斜压不稳定释放的是水平密度梯度储存的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【位势】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潜沉是高密度水沿______面下潜。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5/6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9｜振荡、不稳定与对流｜逐步补空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ENSO 的本质是热带太平洋海气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【耦合】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振荡。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上重下轻对应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【静力】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不稳定。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表层冷却增密后下沉，属于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【浮力】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正压不稳定常与速度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【切变】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有关。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斜压不稳定释放的是水平密度梯度储存的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【位势】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潜沉是高密度水沿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【等密度】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面下潜。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6/6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10｜海平面与海冰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把前面的过程收束成气候结果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平均海平面变化要区分热膨胀、冰川融化、动力调整和______运动。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海冰高反照率意味着存在明显的______反馈。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海冰生长时的排盐作用会使下层海水密度______。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海平面变化要区分全球平均海平面与区域______海平面。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结冰排盐可能促进高纬______形成。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海平面和海冰都可视为海洋—气候系统的______变量。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0/6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先提问，再开始逐步补空</a:t>
            </a:r>
            <a:endParaRPr lang="en-US" sz="10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10｜海平面与海冰｜逐步补空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平均海平面变化要区分热膨胀、冰川融化、动力调整和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【地壳 / 陆地】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海冰高反照率意味着存在明显的______反馈。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海冰生长时的排盐作用会使下层海水密度______。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海平面变化要区分全球平均海平面与区域______海平面。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结冰排盐可能促进高纬______形成。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海平面和海冰都可视为海洋—气候系统的______变量。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1/6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10｜海平面与海冰｜逐步补空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平均海平面变化要区分热膨胀、冰川融化、动力调整和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【地壳 / 陆地】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海冰高反照率意味着存在明显的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【冰—反照率 / 正】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海冰生长时的排盐作用会使下层海水密度______。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海平面变化要区分全球平均海平面与区域______海平面。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结冰排盐可能促进高纬______形成。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海平面和海冰都可视为海洋—气候系统的______变量。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2/6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10｜海平面与海冰｜逐步补空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平均海平面变化要区分热膨胀、冰川融化、动力调整和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【地壳 / 陆地】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海冰高反照率意味着存在明显的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【冰—反照率 / 正】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海冰生长时的排盐作用会使下层海水密度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【增大】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海平面变化要区分全球平均海平面与区域______海平面。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结冰排盐可能促进高纬______形成。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海平面和海冰都可视为海洋—气候系统的______变量。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3/6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10｜海平面与海冰｜逐步补空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平均海平面变化要区分热膨胀、冰川融化、动力调整和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【地壳 / 陆地】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海冰高反照率意味着存在明显的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【冰—反照率 / 正】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海冰生长时的排盐作用会使下层海水密度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【增大】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海平面变化要区分全球平均海平面与区域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【相对】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海平面。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结冰排盐可能促进高纬______形成。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海平面和海冰都可视为海洋—气候系统的______变量。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4/6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10｜海平面与海冰｜逐步补空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平均海平面变化要区分热膨胀、冰川融化、动力调整和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【地壳 / 陆地】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海冰高反照率意味着存在明显的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【冰—反照率 / 正】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海冰生长时的排盐作用会使下层海水密度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【增大】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海平面变化要区分全球平均海平面与区域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【相对】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海平面。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结冰排盐可能促进高纬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【深水 / 高密度水】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海平面和海冰都可视为海洋—气候系统的______变量。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5/6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10｜海平面与海冰｜逐步补空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每翻一页只补一个空，按课堂节奏逐个揭示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9496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90195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平均海平面变化要区分热膨胀、冰川融化、动力调整和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【地壳 / 陆地】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海冰高反照率意味着存在明显的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【冰—反照率 / 正】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5478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海冰生长时的排盐作用会使下层海水密度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【增大】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21808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4592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海平面变化要区分全球平均海平面与区域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【相对】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海平面。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结冰排盐可能促进高纬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【深水 / 高密度水】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海平面和海冰都可视为海洋—气候系统的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【结果】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6/6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继续翻页，逐个补空</a:t>
            </a:r>
            <a:endParaRPr lang="en-US" sz="10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终极挖空｜8 句闭环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 / 复试抢答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554480"/>
            <a:ext cx="1078992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45920"/>
            <a:ext cx="10460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快速挖空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190195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海洋首先受外部______驱动。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温度和盐度决定海水______。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21868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层化结构会被湍流、混合和______不断改造。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877056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大尺度海流常由压强梯度力与______力平衡。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535424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热盐环流的根本基础是海水______差异。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19379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Kelvin 波、Rossby 波、内波和潮汐都属于海洋的______现象。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85216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ENSO 的本质是海洋与大气的______振荡。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651052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海平面和海冰是整个海洋—气候系统的______变量。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0/8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先抢答，再开始逐句补空</a:t>
            </a:r>
            <a:endParaRPr lang="en-US" sz="10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终极挖空｜8 句闭环｜逐步补空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最后收束建议逐句补全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554480"/>
            <a:ext cx="1078992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45920"/>
            <a:ext cx="10460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标准句正在逐步补全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190195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海洋首先受外部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【强迫】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温度和盐度决定海水______。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21868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层化结构会被湍流、混合和______不断改造。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877056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大尺度海流常由压强梯度力与______力平衡。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535424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热盐环流的根本基础是海水______差异。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19379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Kelvin 波、Rossby 波、内波和潮汐都属于海洋的______现象。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85216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ENSO 的本质是海洋与大气的______振荡。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651052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海平面和海冰是整个海洋—气候系统的______变量。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1/8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继续翻页，直到 8 句全部补齐</a:t>
            </a:r>
            <a:endParaRPr lang="en-US" sz="10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终极挖空｜8 句闭环｜逐步补空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最后收束建议逐句补全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554480"/>
            <a:ext cx="1078992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45920"/>
            <a:ext cx="10460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标准句正在逐步补全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190195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海洋首先受外部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【强迫】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温度和盐度决定海水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21868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层化结构会被湍流、混合和______不断改造。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877056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大尺度海流常由压强梯度力与______力平衡。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535424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热盐环流的根本基础是海水______差异。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19379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Kelvin 波、Rossby 波、内波和潮汐都属于海洋的______现象。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85216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ENSO 的本质是海洋与大气的______振荡。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651052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海平面和海冰是整个海洋—气候系统的______变量。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2/8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继续翻页，直到 8 句全部补齐</a:t>
            </a:r>
            <a:endParaRPr lang="en-US" sz="10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终极挖空｜8 句闭环｜逐步补空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最后收束建议逐句补全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554480"/>
            <a:ext cx="1078992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45920"/>
            <a:ext cx="10460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标准句正在逐步补全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190195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海洋首先受外部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【强迫】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温度和盐度决定海水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21868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层化结构会被湍流、混合和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【扩散】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不断改造。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877056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大尺度海流常由压强梯度力与______力平衡。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535424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热盐环流的根本基础是海水______差异。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19379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Kelvin 波、Rossby 波、内波和潮汐都属于海洋的______现象。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85216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ENSO 的本质是海洋与大气的______振荡。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651052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海平面和海冰是整个海洋—气候系统的______变量。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3/8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继续翻页，直到 8 句全部补齐</a:t>
            </a:r>
            <a:endParaRPr lang="en-US" sz="10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终极挖空｜8 句闭环｜逐步补空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最后收束建议逐句补全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554480"/>
            <a:ext cx="1078992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45920"/>
            <a:ext cx="10460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标准句正在逐步补全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190195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海洋首先受外部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【强迫】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温度和盐度决定海水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21868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层化结构会被湍流、混合和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【扩散】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不断改造。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877056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大尺度海流常由压强梯度力与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【科氏】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力平衡。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535424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热盐环流的根本基础是海水______差异。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19379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Kelvin 波、Rossby 波、内波和潮汐都属于海洋的______现象。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85216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ENSO 的本质是海洋与大气的______振荡。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651052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海平面和海冰是整个海洋—气候系统的______变量。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4/8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继续翻页，直到 8 句全部补齐</a:t>
            </a:r>
            <a:endParaRPr lang="en-US" sz="10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终极挖空｜8 句闭环｜逐步补空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最后收束建议逐句补全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554480"/>
            <a:ext cx="1078992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45920"/>
            <a:ext cx="10460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标准句正在逐步补全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190195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海洋首先受外部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【强迫】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温度和盐度决定海水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21868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层化结构会被湍流、混合和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【扩散】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不断改造。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877056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大尺度海流常由压强梯度力与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【科氏】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力平衡。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535424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热盐环流的根本基础是海水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19379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Kelvin 波、Rossby 波、内波和潮汐都属于海洋的______现象。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85216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ENSO 的本质是海洋与大气的______振荡。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651052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海平面和海冰是整个海洋—气候系统的______变量。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5/8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继续翻页，直到 8 句全部补齐</a:t>
            </a:r>
            <a:endParaRPr lang="en-US" sz="10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终极挖空｜8 句闭环｜逐步补空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最后收束建议逐句补全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554480"/>
            <a:ext cx="1078992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45920"/>
            <a:ext cx="10460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标准句正在逐步补全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190195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海洋首先受外部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【强迫】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温度和盐度决定海水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21868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层化结构会被湍流、混合和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【扩散】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不断改造。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877056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大尺度海流常由压强梯度力与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【科氏】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力平衡。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535424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热盐环流的根本基础是海水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19379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Kelvin 波、Rossby 波、内波和潮汐都属于海洋的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【波动 / 振荡】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85216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ENSO 的本质是海洋与大气的______振荡。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651052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海平面和海冰是整个海洋—气候系统的______变量。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6/8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继续翻页，直到 8 句全部补齐</a:t>
            </a:r>
            <a:endParaRPr lang="en-US" sz="10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终极挖空｜8 句闭环｜逐步补空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最后收束建议逐句补全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554480"/>
            <a:ext cx="1078992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45920"/>
            <a:ext cx="10460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标准句正在逐步补全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190195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海洋首先受外部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【强迫】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温度和盐度决定海水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21868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层化结构会被湍流、混合和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【扩散】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不断改造。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877056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大尺度海流常由压强梯度力与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【科氏】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力平衡。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535424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热盐环流的根本基础是海水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19379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Kelvin 波、Rossby 波、内波和潮汐都属于海洋的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【波动 / 振荡】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85216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ENSO 的本质是海洋与大气的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【耦合】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振荡。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651052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海平面和海冰是整个海洋—气候系统的______变量。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7/8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继续翻页，直到 8 句全部补齐</a:t>
            </a:r>
            <a:endParaRPr lang="en-US" sz="10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终极挖空｜8 句闭环｜逐步补空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最后收束建议逐句补全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554480"/>
            <a:ext cx="10789920" cy="4526280"/>
          </a:xfrm>
          <a:prstGeom prst="roundRect">
            <a:avLst/>
          </a:prstGeom>
          <a:solidFill>
            <a:srgbClr val="FFF9F8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45920"/>
            <a:ext cx="10460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标准句正在逐步补全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190195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海洋首先受外部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【强迫】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温度和盐度决定海水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21868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层化结构会被湍流、混合和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【扩散】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不断改造。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877056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大尺度海流常由压强梯度力与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【科氏】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力平衡。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535424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热盐环流的根本基础是海水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19379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Kelvin 波、Rossby 波、内波和潮汐都属于海洋的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【波动 / 振荡】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85216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ENSO 的本质是海洋与大气的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【耦合】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振荡。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651052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海平面和海冰是整个海洋—气候系统的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【结果】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8/8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继续翻页，直到 8 句全部补齐</a:t>
            </a:r>
            <a:endParaRPr lang="en-US" sz="10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物理海洋学复试教学串讲｜学生逐步补空动画版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高频口试题抢答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 / 复试抢答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554480"/>
            <a:ext cx="1078992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45920"/>
            <a:ext cx="10460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快速挖空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190195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什么是水团？为什么 T-S 图能识别水团？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艾克曼流和地转流的区别与联系是什么？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218688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为什么沿岸风会引起上升流？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877056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热盐环流为什么会影响气候？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535424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海洋锋、跃层、障碍层分别是什么？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193792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为什么说 ENSO 是海气耦合现象？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823960" y="658368"/>
            <a:ext cx="1965960" cy="347472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79408" y="74980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补空进度 0/6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467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先抢答，再开始逐句补空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物理海洋学复试教学串讲_学生逐步补空动画版</dc:title>
  <dc:subject>PptxGenJS Presentation</dc:subject>
  <dc:creator>OpenClaw</dc:creator>
  <cp:lastModifiedBy>OpenClaw</cp:lastModifiedBy>
  <cp:revision>1</cp:revision>
  <dcterms:created xsi:type="dcterms:W3CDTF">2026-03-14T16:19:47Z</dcterms:created>
  <dcterms:modified xsi:type="dcterms:W3CDTF">2026-03-14T16:19:47Z</dcterms:modified>
</cp:coreProperties>
</file>