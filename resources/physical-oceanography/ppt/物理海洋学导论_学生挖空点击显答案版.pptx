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9FD"/>
          </a:solidFill>
          <a:ln w="12700">
            <a:solidFill>
              <a:srgbClr val="F3F9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789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04672" y="17556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学生逐步补空版｜按章节地图 + 逐题揭晓答案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827264" y="1188720"/>
            <a:ext cx="3566160" cy="201168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128016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课堂怎么用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7991856" y="1682496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先停在提问页；之后每翻一页，只揭晓 1 个答案。</a:t>
            </a:r>
            <a:endParaRPr lang="en-US" sz="1460" dirty="0"/>
          </a:p>
        </p:txBody>
      </p:sp>
      <p:sp>
        <p:nvSpPr>
          <p:cNvPr id="14" name="Shape 12"/>
          <p:cNvSpPr/>
          <p:nvPr/>
        </p:nvSpPr>
        <p:spPr>
          <a:xfrm>
            <a:off x="804672" y="2798064"/>
            <a:ext cx="10588752" cy="1920240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889504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1051560" y="349300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这一版通过连续翻页模拟“逐个显示答案”的课堂节奏，同时保留章节地图帮助定位。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1.1 历史背景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1.2 海洋物理环境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1.3 大气动力作用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1.4 海洋热量收支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1.5 海洋物理参数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1.1.1 早期探索者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1.1.2 中国航海者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1.1.3 欧洲发现者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1.2.1 四大洋及边缘海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1.2.2 海洋的尺度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1.2.3 海底特征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1.2.4 海洋深度的测量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1.2.5 海洋中的声音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1.3.1 大气风生系统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1.3.2 大气对海洋的影响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1.4.1 海洋热收支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1.4.2 影响热收支各项的因素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 1.4.3 热收支的空间分布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 1.5.1 温度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 1.5.2 盐度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 1.5.3 海表温度和盐度的空间分布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 1.5.4 密度、位温和中性密度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 1.5.5 温度的测量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教材强调海洋水平尺度远大于垂向尺度，因此海洋常被视为______流体。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海洋热量收支中，与蒸发密切相关的冷却项是______通量。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教材用于高精度原位测深的主要方法是船载______测深。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海洋热量收支中，与蒸发密切相关的冷却项是______通量。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教材用于高精度原位测深的主要方法是船载______测深。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海洋热量收支中，与蒸发密切相关的冷却项是______通量。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教材用于高精度原位测深的主要方法是船载______测深。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【潜热】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教材用于高精度原位测深的主要方法是船载______测深。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【潜热】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【声学回声 / 回声】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【潜热】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【声学回声 / 回声】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【声音 / 声学信号】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第1章｜基础知识｜逐步补空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原书逻辑：历史背景 → 海洋物理环境 → 大气动力作用 → 海洋热量收支 → 海洋物理参数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教材强调海洋水平尺度远大于垂向尺度，因此海洋常被视为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【薄层】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流体。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决定海水动力状态的核心状态量常概括为温度、盐度和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海洋热量收支中，与蒸发密切相关的冷却项是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【潜热】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教材用于高精度原位测深的主要方法是船载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【声学回声 / 回声】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海洋内部远距离传递信息的便利手段是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【声音 / 声学信号】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比原位温度更适合比较不同深度水体热状态的量是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【位温】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历史背景｜海洋物理环境｜大气动力作用｜海洋热量收支｜海洋物理参数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2.1 纳维－斯托克斯方程的建立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2.2 物理海洋方程的建立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2.3 物理海洋方程的处理方法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2.1.1 连续介质假设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2.1.2 基本守恒定律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2.1.3 欧拉的理想流体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2.1.4 纳维－斯托克斯方程表达式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2.2.1 连续性方程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2.2.2 运动方程的其他外力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2.2.3 热盐守恒过程及状态方程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2.3.1 主要的近似和边界条件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2.3.2 尺度分析方法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2.3.3 散度与流函数、涡度与势函数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把离散分子流体看作连续场的基本前提叫______假设。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欧拉观点下，变量随流体质点变化的导数常写成______导数。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将温盐结构与动力过程耦合起来的关系式是海水______方程。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判断不同海洋过程该保留哪些方程项的方法叫______分析。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欧拉观点下，变量随流体质点变化的导数常写成______导数。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将温盐结构与动力过程耦合起来的关系式是海水______方程。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判断不同海洋过程该保留哪些方程项的方法叫______分析。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 / 物质】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将温盐结构与动力过程耦合起来的关系式是海水______方程。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判断不同海洋过程该保留哪些方程项的方法叫______分析。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 / 物质】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【零】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将温盐结构与动力过程耦合起来的关系式是海水______方程。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判断不同海洋过程该保留哪些方程项的方法叫______分析。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 / 物质】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【零】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【状态】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判断不同海洋过程该保留哪些方程项的方法叫______分析。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 / 物质】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【零】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【状态】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【尺度】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第2章｜物理海洋方程组｜逐步补空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原书逻辑：纳维－斯托克斯方程的建立 → 物理海洋方程的建立 → 物理海洋方程的处理方法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把离散分子流体看作连续场的基本前提叫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【连续介质】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欧拉观点下，变量随流体质点变化的导数常写成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【全 / 物质】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不可压海水最常用的连续性方程写成速度散度等于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【零】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将温盐结构与动力过程耦合起来的关系式是海水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【状态】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判断不同海洋过程该保留哪些方程项的方法叫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【尺度】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把速度场重写为更易诊断形式时，常用到流函数和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【涡度】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纳维－斯托克斯方程的建立｜物理海洋方程的建立｜物理海洋方程的处理方法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3.1 潮汐现象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3.2 潮汐基本理论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3.3 潮汐调和分析预报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3.4 潮波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3.5 潮汐观测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3.6 我国近海潮汐特征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3.1.1 相关天体知识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3.1.2 潮汐要素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3.1.3 潮汐的类型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3.2.1 引潮势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3.2.2 平衡潮理论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3.2.3 潮汐不等现象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3.3 潮汐调和分析预报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3.4 潮波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3.5.1 验潮站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3.5.2 卫星观测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3.6.1 我国近海潮波系统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3.6.2 我国近海潮汐类型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将复杂潮位分解成多个分潮叠加的方法叫潮汐______分析。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理想条件下描述海洋对引潮势响应的理论称为______潮理论。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将复杂潮位分解成多个分潮叠加的方法叫潮汐______分析。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理想条件下描述海洋对引潮势响应的理论称为______潮理论。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将复杂潮位分解成多个分潮叠加的方法叫潮汐______分析。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理想条件下描述海洋对引潮势响应的理论称为______潮理论。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【调和】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理想条件下描述海洋对引潮势响应的理论称为______潮理论。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【调和】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【平衡】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【调和】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【平衡】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【潮波】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第3章｜潮汐｜逐步补空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原书逻辑：潮汐现象 → 潮汐基本理论 → 调和分析预报 → 潮波 → 潮汐观测 → 我国近海潮汐特征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由日、月对海水的周期性引力作用所引起的海面起伏称为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与海面起伏相伴随的海水水平运动称为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将复杂潮位分解成多个分潮叠加的方法叫潮汐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【调和】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理想条件下描述海洋对引潮势响应的理论称为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【平衡】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潮理论。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潮汐在海盆中的传播形式可称为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【潮波】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教材中对我国近海潮汐的应用讲解，最能体现海盆和地形对天文强迫的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【改造】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潮汐现象｜潮汐基本理论｜潮汐调和分析预报｜潮波｜潮汐观测｜我国近海潮汐特征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4.1 静力平衡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4.2 地转方程组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4.3 利用卫星高度计资料计算地转流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4.4 利用温盐数据计算地转流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4.1 静力平衡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4.2.1 地转方程组的推导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4.2.2 热成风关系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4.3.1 卫星高度计的发展简介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4.3.2 高度计资料计算地转流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4.4.1 相对地转流的计算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4.4.2 P矢量方法计算绝对地转流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在大尺度海洋中，垂向压强梯度与重力平衡称为______平衡。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大尺度水平流中，压强梯度力与______力平衡形成地转流。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把水平密度梯度与地转流垂向切变联系起来的关系叫______风关系。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由温盐资料恢复内部地转流时，首先要把温盐转成______结构。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大尺度水平流中，压强梯度力与______力平衡形成地转流。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把水平密度梯度与地转流垂向切变联系起来的关系叫______风关系。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由温盐资料恢复内部地转流时，首先要把温盐转成______结构。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把水平密度梯度与地转流垂向切变联系起来的关系叫______风关系。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由温盐资料恢复内部地转流时，首先要把温盐转成______结构。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由温盐资料恢复内部地转流时，首先要把温盐转成______结构。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【高度计】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由温盐资料恢复内部地转流时，首先要把温盐转成______结构。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【高度计】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不依赖静止参考面的绝对流估计教材中提到的方法是______方法。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第4章｜地转流｜逐步补空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原书逻辑：静力平衡 → 地转方程组 → 卫星高度计计算 → 温盐资料计算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在大尺度海洋中，垂向压强梯度与重力平衡称为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【静力】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大尺度水平流中，压强梯度力与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力平衡形成地转流。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把水平密度梯度与地转流垂向切变联系起来的关系叫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风关系。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利用海表面几何信息反推表层地转流的重要观测手段是卫星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【高度计】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由温盐资料恢复内部地转流时，首先要把温盐转成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【密度】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不依赖静止参考面的绝对流估计教材中提到的方法是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【P矢量 / P 矢量】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静力平衡｜地转方程组｜利用卫星高度计资料计算地转流｜利用温盐数据计算地转流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5.1 海表风应力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5.2 海表埃克曼层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5.3 埃克曼质量输运及其应用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5.4 海底埃克曼流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5.5 惯性流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5.1.1 风能的输入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5.1.2 朗缪尔环流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5.2.1 海表埃克曼漂流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5.2.2 经验计算与海表观测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5.2.3 有限深海漂流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5.3.1 埃克曼质量输运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5.3.2 沿岸上升流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5.3.3 埃克曼抽吸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5.4 海底埃克曼流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5.5 惯性流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经典埃克曼层由风应力、科氏力和垂向______共同控制。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沿岸风使表层水离岸输运并诱发冷水上涌的现象称为沿岸______流。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经典埃克曼层由风应力、科氏力和垂向______共同控制。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沿岸风使表层水离岸输运并诱发冷水上涌的现象称为沿岸______流。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【摩擦】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沿岸风使表层水离岸输运并诱发冷水上涌的现象称为沿岸______流。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【摩擦】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【输运】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沿岸风使表层水离岸输运并诱发冷水上涌的现象称为沿岸______流。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【摩擦】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【输运】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【摩擦】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【输运】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【抽吸】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外力撤去后海水在科氏力控制下做的自由振荡称为______流。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第5章｜埃克曼流与惯性流｜逐步补空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原书逻辑：海表风应力 → 海表埃克曼层 → 埃克曼质量输运及其应用 → 海底埃克曼流 → 惯性流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风把动量传给海洋上层的直接边界量叫海表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【风应力】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经典埃克曼层由风应力、科氏力和垂向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【摩擦】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共同控制。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比表层偏角更能代表风生边界层整体效应的量是埃克曼质量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【输运】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沿岸风使表层水离岸输运并诱发冷水上涌的现象称为沿岸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【上升】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风应力旋度引起的垂向抽吸效应称为埃克曼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【抽吸】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外力撤去后海水在科氏力控制下做的自由振荡称为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【惯性】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海表风应力｜海表埃克曼层｜埃克曼质量输运及其应用｜海底埃克曼流｜惯性流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6.1 斯韦德鲁普风生环流理论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6.2 西边界流理论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6.3 位势涡度守恒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6.1.1 斯韦德鲁普方程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6.1.2 斯韦德鲁普方程物理意义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6.2.1 斯托梅尔西边界流理论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6.2.2 蒙克西边界流理论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6.2.3 惯性西边界流理论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6.3.1 海洋中的涡度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6.3.2 位涡守恒的推导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6.3.3 位涡守恒的意义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解释海盆内部风生输运的经典理论是______德鲁普风生环流理论。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黑潮和湾流是现实海洋中典型的______边界流。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解释海盆内部风生输运的经典理论是______德鲁普风生环流理论。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黑潮和湾流是现实海洋中典型的______边界流。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【斯韦】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黑潮和湾流是现实海洋中典型的______边界流。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【斯韦】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【强化】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黑潮和湾流是现实海洋中典型的______边界流。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【斯韦】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【强化】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【西】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把相对涡度、行星涡度和流体柱厚度联系起来的守恒量是位势______。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【斯韦】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【强化】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【西】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【涡度】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位势涡度守恒最直观的物理图像是流体柱______与自转变化相互补偿。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第6章｜风生大洋环流｜逐步补空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原书逻辑：斯韦德鲁普风生环流理论 → 西边界流理论 → 位势涡度守恒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决定海盆内部大尺度输运的风场量，不是风速本身而是风应力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【旋度】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解释海盆内部风生输运的经典理论是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【斯韦】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德鲁普风生环流理论。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海盆环流闭合往往在西侧形成强而窄海流，这一现象称为西边界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【强化】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黑潮和湾流是现实海洋中典型的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【西】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边界流。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把相对涡度、行星涡度和流体柱厚度联系起来的守恒量是位势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【涡度】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位势涡度守恒最直观的物理图像是流体柱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【伸缩】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与自转变化相互补偿。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斯韦德鲁普风生环流理论｜西边界流理论｜位势涡度守恒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7.1 深层环流结构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7.2 深层环流的重要性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7.3 深层环流理论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7.4 深层环流的观测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7.1 深层环流结构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7.2.1 全球热量再分配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7.2.2 海水固碳作用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7.3.1 翻转环流与深层西边界流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7.3.2 深层环流的多平衡态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7.4.1 深层西边界流的观测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7.4.2 其他深层流的观测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深层环流对气候最直接的重要性之一是全球______再分配。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教材强调深层环流除了热量作用外，还承担海水______作用。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连接表层与深层的大尺度经向交换常概括为______环流。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深层输送在盆地内部常通过狭窄的______西边界流完成。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如果同样背景下系统可处于多个稳定状态，这一性质称为多______态。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教材强调深层环流除了热量作用外，还承担海水______作用。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连接表层与深层的大尺度经向交换常概括为______环流。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深层输送在盆地内部常通过狭窄的______西边界流完成。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如果同样背景下系统可处于多个稳定状态，这一性质称为多______态。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【固碳】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连接表层与深层的大尺度经向交换常概括为______环流。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深层输送在盆地内部常通过狭窄的______西边界流完成。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如果同样背景下系统可处于多个稳定状态，这一性质称为多______态。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【固碳】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【翻转】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深层输送在盆地内部常通过狭窄的______西边界流完成。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如果同样背景下系统可处于多个稳定状态，这一性质称为多______态。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【固碳】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【翻转】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如果同样背景下系统可处于多个稳定状态，这一性质称为多______态。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【固碳】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【翻转】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【平衡】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第7章｜深层环流理论｜逐步补空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原书逻辑：深层环流结构 → 深层环流的重要性 → 深层环流理论 → 深层环流的观测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深层环流对气候最直接的重要性之一是全球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【热量】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再分配。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教材强调深层环流除了热量作用外，还承担海水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【固碳】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连接表层与深层的大尺度经向交换常概括为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【翻转】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环流。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深层输送在盆地内部常通过狭窄的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【深层】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西边界流完成。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如果同样背景下系统可处于多个稳定状态，这一性质称为多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【平衡】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深层环流之所以被称为气候系统的慢变量，是因为其调整时间尺度通常较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【长】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深层环流结构｜深层环流的重要性｜深层环流理论｜深层环流的观测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8.1 波动现象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8.2 线性波理论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8.3 非线性波理论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8.4 波浪的浅水变形、折射、绕射、反射和破碎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8.5 随机波浪理论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8.6 波浪的观测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8.7 极端灾害性波动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8.1.1 海浪的运动学特征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8.1.2 海浪运动控制方程和定解条件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8.2.1 线性波控制方程、定解条件和理论解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8.2.2 线性波的速度场和加速度场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8.2.3 线性波质点的运动轨迹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8.2.4 线性波的压力场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8.2.5 线性波的波能和波能流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8.2.6 波群和群速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8.2.7 驻波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8.3 非线性波理论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8.4 波浪的浅水变形、折射、绕射、反射和破碎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8.5.1 特征波法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 8.5.2 两种常见的波浪谱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 8.6.1 波浪的现场观测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 8.6.2 波浪的遥感观测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 8.7.1 风暴潮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 8.7.2 风暴潮灾害及预防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 8.7.3 风暴潮数值预报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由强天气系统引起的海面显著增水和灾害性波动称为______潮。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由强天气系统引起的海面显著增水和灾害性波动称为______潮。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【群速】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由强天气系统引起的海面显著增水和灾害性波动称为______潮。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【群速】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由强天气系统引起的海面显著增水和灾害性波动称为______潮。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【群速】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【折射】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由强天气系统引起的海面显著增水和灾害性波动称为______潮。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【群速】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【折射】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【风暴】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第8章｜波浪理论｜逐步补空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原书逻辑：波动现象 → 线性波理论 → 非线性波理论 → 浅水变形/折射/绕射/反射/破碎 → 随机波浪理论 → 观测 → 极端灾害性波动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在线性波理论中，描述相位传播快慢的速度称为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【相速】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在线性波理论中，更能代表能量传播的速度称为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【群速】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把实际海浪看作统计波场时，最常用的描述工具是波浪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波浪进入浅水区后因水深变化而改变传播方向的现象称为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【折射】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由强天气系统引起的海面显著增水和灾害性波动称为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【风暴】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由海底地震等激发、以长波形式传播的典型灾害性海洋波动是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【海啸】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波动现象｜线性波理论｜非线性波理论｜波浪的浅水变形、折射、绕射、反射和破碎｜随机波浪理论｜波浪的观测｜极端灾害性波动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9.1 线性波动理论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9.2 庞加莱波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9.3 开尔文波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9.4 罗斯贝波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9.5 地形罗斯贝波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9.1 线性波动理论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9.2 庞加莱波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9.3 开尔文波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9.4 罗斯贝波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9.5 地形罗斯贝波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兼具旋转约束和重力恢复的大尺度基础波型是______波。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沿岸或赤道快速传播、受边界束缚的长波称为______波。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效应为核心恢复机制并承担慢调整的波型是______波。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若恢复机制来自海底坡度等地形效应，可形成地形______波。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波之所以特殊，是因为传播受到______条件强约束。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沿岸或赤道快速传播、受边界束缚的长波称为______波。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效应为核心恢复机制并承担慢调整的波型是______波。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若恢复机制来自海底坡度等地形效应，可形成地形______波。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波之所以特殊，是因为传播受到______条件强约束。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【开尔文 / Kelvin】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效应为核心恢复机制并承担慢调整的波型是______波。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若恢复机制来自海底坡度等地形效应，可形成地形______波。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波之所以特殊，是因为传播受到______条件强约束。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【开尔文 / Kelvin】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 / Rossby】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若恢复机制来自海底坡度等地形效应，可形成地形______波。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波之所以特殊，是因为传播受到______条件强约束。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【开尔文 / Kelvin】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 / Rossby】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波之所以特殊，是因为传播受到______条件强约束。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【开尔文 / Kelvin】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 / Rossby】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【边界】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波虽然传播慢，却非常适合承担海盆尺度的长期______。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第9章｜海洋中的大尺度波动｜逐步补空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原书逻辑：线性波动理论 → 庞加莱波 → 开尔文波 → 罗斯贝波 → 地形罗斯贝波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兼具旋转约束和重力恢复的大尺度基础波型是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【庞加莱】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沿岸或赤道快速传播、受边界束缚的长波称为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【开尔文 / Kelvin】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以 β 效应为核心恢复机制并承担慢调整的波型是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 / Rossby】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若恢复机制来自海底坡度等地形效应，可形成地形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【罗斯贝】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Kelvin 波之所以特殊，是因为传播受到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【边界】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条件强约束。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Rossby 波虽然传播慢，却非常适合承担海盆尺度的长期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【调整】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线性波动理论｜庞加莱波｜开尔文波｜罗斯贝波｜地形罗斯贝波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10.1 内波现象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10.2 内波基本控制方程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10.3 内波频散关系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10.4 内波动力学特征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10.5 内波的反射与折射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10.6 内波观测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10.7 内潮和内孤立波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10.1 内波现象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10.2 内波基本控制方程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10.3.1 垂向本征方程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10.3.2 内波频散关系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10.4.1 内波垂向本征模态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10.4.2 两层流体内波解及其流场特征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10.5.1 海洋内波的反射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10.5.2 海洋内波的折射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10.6.1 现场观测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10.6.2 卫星遥感观测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10.7.1 内潮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10.7.2 内孤立波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衡量层结强度并限定内波频率范围的重要量是______频率。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具有强非线性和大振幅特征的典型内波形式是内______波。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衡量层结强度并限定内波频率范围的重要量是______频率。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具有强非线性和大振幅特征的典型内波形式是内______波。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把复杂内波场拆分为不同垂向结构时使用的是本征______。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具有强非线性和大振幅特征的典型内波形式是内______波。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【模态】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由潮汐流经起伏地形激发的典型内波称为______。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具有强非线性和大振幅特征的典型内波形式是内______波。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【模态】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【内潮】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具有强非线性和大振幅特征的典型内波形式是内______波。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【模态】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【内潮】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【孤立】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内波之所以重要，是因为它连接大尺度能量输入与小尺度______增强。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第10章｜海洋内波｜逐步补空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原书逻辑：内波现象 → 基本控制方程 → 频散关系 → 动力学特征 → 反射与折射 → 观测 → 内潮和内孤立波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内波存在的前提是海洋内部具有稳定的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【层化 / 密度分层】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衡量层结强度并限定内波频率范围的重要量是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【浮力】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把复杂内波场拆分为不同垂向结构时使用的是本征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【模态】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由潮汐流经起伏地形激发的典型内波称为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【内潮】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具有强非线性和大振幅特征的典型内波形式是内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【孤立】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内波之所以重要，是因为它连接大尺度能量输入与小尺度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【混合】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内波现象｜内波基本控制方程｜内波频散关系｜内波动力学特征｜内波的反射与折射｜内波观测｜内潮和内孤立波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第11章｜若干前沿专题｜本章小节地图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主节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50292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11.1 赤道过程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11.2 极地过程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11.3 海洋中尺度涡旋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11.4 海洋次中尺度过程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小节定位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6455664" y="1847088"/>
            <a:ext cx="484632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11.1.1 赤道海流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11.1.2 ENSO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11.1.3 ENSO观测与预报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11.1.4 赤道开尔文波和罗斯贝波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11.2.1 概述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11.2.2 北极地区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11.2.3 南极地区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11.3.1 海洋涡旋自动探测的必要性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11.3.2 海洋涡旋自动探测的方法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11.3.3 海洋涡旋的产生机制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11.3.4 大气对海洋中尺度涡旋的响应特征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11.4.1 海洋次中尺度过程的时空特征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 11.4.2 海洋次中尺度过程的种类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 11.4.3 海洋次中尺度过程的生成机制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翻到后面的逐步补空页时，先判断该问题更接近这里的哪一个主节/小节，再决定答案。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第11章｜若干前沿专题｜先提问后揭晓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海气耦合最典型、最著名的赤道年际振荡现象缩写为______。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极地过程与海冰变化、深水形成以及全球______变化密切相关。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E6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海洋中尺度涡旋研究中，教材特别强调了自动______的重要性。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相较中尺度，次中尺度过程通常具有更强的______交换。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0/6</a:t>
            </a:r>
            <a:endParaRPr lang="en-US" sz="108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教材中用于衡量南方涛动强弱的重要量是南方涛动______。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极地过程与海冰变化、深水形成以及全球______变化密切相关。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海洋中尺度涡旋研究中，教材特别强调了自动______的重要性。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相较中尺度，次中尺度过程通常具有更强的______交换。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1/6</a:t>
            </a:r>
            <a:endParaRPr lang="en-US" sz="108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极地过程与海冰变化、深水形成以及全球______变化密切相关。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海洋中尺度涡旋研究中，教材特别强调了自动______的重要性。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相较中尺度，次中尺度过程通常具有更强的______交换。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2/6</a:t>
            </a:r>
            <a:endParaRPr lang="en-US" sz="108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【气候】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海洋中尺度涡旋研究中，教材特别强调了自动______的重要性。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相较中尺度，次中尺度过程通常具有更强的______交换。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3/6</a:t>
            </a:r>
            <a:endParaRPr lang="en-US" sz="108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【气候】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【探测】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相较中尺度，次中尺度过程通常具有更强的______交换。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4/6</a:t>
            </a:r>
            <a:endParaRPr lang="en-US" sz="108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【气候】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【探测】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【垂向】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前沿专题章节的根本作用，是把基础理论推进到现代______问题。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5/6</a:t>
            </a:r>
            <a:endParaRPr lang="en-US" sz="108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A5C"/>
          </a:solidFill>
          <a:ln w="12700">
            <a:solidFill>
              <a:srgbClr val="14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60196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物理海洋学导论｜学生逐步补空版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4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第11章｜若干前沿专题｜逐步补空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原书逻辑：赤道过程 → 极地过程 → 海洋中尺度涡旋 → 海洋次中尺度过程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449824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左侧主干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841248" y="18836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海气耦合最典型、最著名的赤道年际振荡现象缩写为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【ENSO】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教材中用于衡量南方涛动强弱的重要量是南方涛动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【指数】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极地过程与海冰变化、深水形成以及全球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【气候】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变化密切相关。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572768"/>
            <a:ext cx="5230368" cy="3822192"/>
          </a:xfrm>
          <a:prstGeom prst="roundRect">
            <a:avLst/>
          </a:prstGeom>
          <a:solidFill>
            <a:srgbClr val="FFF9F8"/>
          </a:solidFill>
          <a:ln w="13335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64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右侧主干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6455664" y="1883664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海洋中尺度涡旋研究中，教材特别强调了自动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【探测】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5664" y="2596896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相较中尺度，次中尺度过程通常具有更强的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【垂向】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3310128"/>
            <a:ext cx="4828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前沿专题章节的根本作用，是把基础理论推进到现代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【科研 / 前沿】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944" y="5504688"/>
            <a:ext cx="10808208" cy="731520"/>
          </a:xfrm>
          <a:prstGeom prst="roundRect">
            <a:avLst/>
          </a:prstGeom>
          <a:solidFill>
            <a:srgbClr val="F8FBFD"/>
          </a:solidFill>
          <a:ln w="13335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59612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本章主节关键词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896112" y="5742432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赤道过程｜极地过程｜海洋中尺度涡旋｜海洋次中尺度过程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17152" y="676656"/>
            <a:ext cx="1499616" cy="310896"/>
          </a:xfrm>
          <a:prstGeom prst="roundRect">
            <a:avLst/>
          </a:prstGeom>
          <a:solidFill>
            <a:srgbClr val="FFF9F8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74980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6/6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物理海洋学导论_学生逐步补空版</dc:title>
  <dc:subject>PptxGenJS Presentation</dc:subject>
  <dc:creator>OpenClaw</dc:creator>
  <cp:lastModifiedBy>OpenClaw</cp:lastModifiedBy>
  <cp:revision>1</cp:revision>
  <dcterms:created xsi:type="dcterms:W3CDTF">2026-03-15T00:27:13Z</dcterms:created>
  <dcterms:modified xsi:type="dcterms:W3CDTF">2026-03-15T00:27:13Z</dcterms:modified>
</cp:coreProperties>
</file>